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oto Sans Bold" charset="1" panose="020B0802040504020204"/>
      <p:regular r:id="rId19"/>
    </p:embeddedFont>
    <p:embeddedFont>
      <p:font typeface="Noto Sans" charset="1" panose="020B050204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53264" y="1971870"/>
            <a:ext cx="2781472" cy="2757617"/>
          </a:xfrm>
          <a:custGeom>
            <a:avLst/>
            <a:gdLst/>
            <a:ahLst/>
            <a:cxnLst/>
            <a:rect r="r" b="b" t="t" l="l"/>
            <a:pathLst>
              <a:path h="2757617" w="2781472">
                <a:moveTo>
                  <a:pt x="0" y="0"/>
                </a:moveTo>
                <a:lnTo>
                  <a:pt x="2781472" y="0"/>
                </a:lnTo>
                <a:lnTo>
                  <a:pt x="2781472" y="2757618"/>
                </a:lnTo>
                <a:lnTo>
                  <a:pt x="0" y="27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73244" y="26881"/>
            <a:ext cx="11141512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TRƯỜNG KỸ THUẬT VÀ CÔNG NGHỆ</a:t>
            </a:r>
          </a:p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KHOA CÔNG NGHỆ THÔNG TIN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093857" y="4856902"/>
            <a:ext cx="61002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Đồ án cơ sở ngành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639222"/>
            <a:ext cx="18288000" cy="267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Đề tài: Tìm hiểu về thuật toán KNN trong phân loại ảnh và xây dựng ứng dụng nhận diện chữ số viết tay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464475" y="7734617"/>
            <a:ext cx="1335905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Giảng viên hướng dẫn: Th.S Đoàn Phước Miền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Sinh viên thực hiện: Nguyễn Thanh Triệu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Mã số sinh viên: 110122248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Lớp: DA23TTD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84827" y="287031"/>
            <a:ext cx="7495282" cy="1483338"/>
            <a:chOff x="0" y="0"/>
            <a:chExt cx="1161215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1215" cy="229808"/>
            </a:xfrm>
            <a:custGeom>
              <a:avLst/>
              <a:gdLst/>
              <a:ahLst/>
              <a:cxnLst/>
              <a:rect r="r" b="b" t="t" l="l"/>
              <a:pathLst>
                <a:path h="229808" w="1161215">
                  <a:moveTo>
                    <a:pt x="73336" y="0"/>
                  </a:moveTo>
                  <a:lnTo>
                    <a:pt x="1087879" y="0"/>
                  </a:lnTo>
                  <a:cubicBezTo>
                    <a:pt x="1107329" y="0"/>
                    <a:pt x="1125982" y="7726"/>
                    <a:pt x="1139736" y="21480"/>
                  </a:cubicBezTo>
                  <a:cubicBezTo>
                    <a:pt x="1153489" y="35233"/>
                    <a:pt x="1161215" y="53886"/>
                    <a:pt x="1161215" y="73336"/>
                  </a:cubicBezTo>
                  <a:lnTo>
                    <a:pt x="1161215" y="156472"/>
                  </a:lnTo>
                  <a:cubicBezTo>
                    <a:pt x="1161215" y="196974"/>
                    <a:pt x="1128382" y="229808"/>
                    <a:pt x="1087879" y="229808"/>
                  </a:cubicBezTo>
                  <a:lnTo>
                    <a:pt x="73336" y="229808"/>
                  </a:lnTo>
                  <a:cubicBezTo>
                    <a:pt x="32834" y="229808"/>
                    <a:pt x="0" y="196974"/>
                    <a:pt x="0" y="156472"/>
                  </a:cubicBezTo>
                  <a:lnTo>
                    <a:pt x="0" y="73336"/>
                  </a:lnTo>
                  <a:cubicBezTo>
                    <a:pt x="0" y="32834"/>
                    <a:pt x="32834" y="0"/>
                    <a:pt x="73336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5184827" y="537527"/>
            <a:ext cx="74952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Nội dung chính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1640" y="2977807"/>
            <a:ext cx="5491301" cy="1483338"/>
            <a:chOff x="0" y="0"/>
            <a:chExt cx="850746" cy="229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0746" cy="229808"/>
            </a:xfrm>
            <a:custGeom>
              <a:avLst/>
              <a:gdLst/>
              <a:ahLst/>
              <a:cxnLst/>
              <a:rect r="r" b="b" t="t" l="l"/>
              <a:pathLst>
                <a:path h="229808" w="850746">
                  <a:moveTo>
                    <a:pt x="100099" y="0"/>
                  </a:moveTo>
                  <a:lnTo>
                    <a:pt x="750647" y="0"/>
                  </a:lnTo>
                  <a:cubicBezTo>
                    <a:pt x="805930" y="0"/>
                    <a:pt x="850746" y="44816"/>
                    <a:pt x="850746" y="100099"/>
                  </a:cubicBezTo>
                  <a:lnTo>
                    <a:pt x="850746" y="129708"/>
                  </a:lnTo>
                  <a:cubicBezTo>
                    <a:pt x="850746" y="156256"/>
                    <a:pt x="840200" y="181717"/>
                    <a:pt x="821428" y="200489"/>
                  </a:cubicBezTo>
                  <a:cubicBezTo>
                    <a:pt x="802655" y="219262"/>
                    <a:pt x="777195" y="229808"/>
                    <a:pt x="750647" y="229808"/>
                  </a:cubicBezTo>
                  <a:lnTo>
                    <a:pt x="100099" y="229808"/>
                  </a:lnTo>
                  <a:cubicBezTo>
                    <a:pt x="44816" y="229808"/>
                    <a:pt x="0" y="184992"/>
                    <a:pt x="0" y="129708"/>
                  </a:cubicBezTo>
                  <a:lnTo>
                    <a:pt x="0" y="100099"/>
                  </a:lnTo>
                  <a:cubicBezTo>
                    <a:pt x="0" y="44816"/>
                    <a:pt x="44816" y="0"/>
                    <a:pt x="100099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06036" y="2977807"/>
            <a:ext cx="5580367" cy="1483338"/>
            <a:chOff x="0" y="0"/>
            <a:chExt cx="864545" cy="2298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4545" cy="229808"/>
            </a:xfrm>
            <a:custGeom>
              <a:avLst/>
              <a:gdLst/>
              <a:ahLst/>
              <a:cxnLst/>
              <a:rect r="r" b="b" t="t" l="l"/>
              <a:pathLst>
                <a:path h="229808" w="864545">
                  <a:moveTo>
                    <a:pt x="98502" y="0"/>
                  </a:moveTo>
                  <a:lnTo>
                    <a:pt x="766043" y="0"/>
                  </a:lnTo>
                  <a:cubicBezTo>
                    <a:pt x="792167" y="0"/>
                    <a:pt x="817222" y="10378"/>
                    <a:pt x="835694" y="28851"/>
                  </a:cubicBezTo>
                  <a:cubicBezTo>
                    <a:pt x="854167" y="47323"/>
                    <a:pt x="864545" y="72378"/>
                    <a:pt x="864545" y="98502"/>
                  </a:cubicBezTo>
                  <a:lnTo>
                    <a:pt x="864545" y="131306"/>
                  </a:lnTo>
                  <a:cubicBezTo>
                    <a:pt x="864545" y="157430"/>
                    <a:pt x="854167" y="182485"/>
                    <a:pt x="835694" y="200957"/>
                  </a:cubicBezTo>
                  <a:cubicBezTo>
                    <a:pt x="817222" y="219430"/>
                    <a:pt x="792167" y="229808"/>
                    <a:pt x="766043" y="229808"/>
                  </a:cubicBezTo>
                  <a:lnTo>
                    <a:pt x="98502" y="229808"/>
                  </a:lnTo>
                  <a:cubicBezTo>
                    <a:pt x="72378" y="229808"/>
                    <a:pt x="47323" y="219430"/>
                    <a:pt x="28851" y="200957"/>
                  </a:cubicBezTo>
                  <a:cubicBezTo>
                    <a:pt x="10378" y="182485"/>
                    <a:pt x="0" y="157430"/>
                    <a:pt x="0" y="131306"/>
                  </a:cubicBezTo>
                  <a:lnTo>
                    <a:pt x="0" y="98502"/>
                  </a:lnTo>
                  <a:cubicBezTo>
                    <a:pt x="0" y="72378"/>
                    <a:pt x="10378" y="47323"/>
                    <a:pt x="28851" y="28851"/>
                  </a:cubicBezTo>
                  <a:cubicBezTo>
                    <a:pt x="47323" y="10378"/>
                    <a:pt x="72378" y="0"/>
                    <a:pt x="98502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227506" y="2977807"/>
            <a:ext cx="5713966" cy="1483338"/>
            <a:chOff x="0" y="0"/>
            <a:chExt cx="885243" cy="2298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5243" cy="229808"/>
            </a:xfrm>
            <a:custGeom>
              <a:avLst/>
              <a:gdLst/>
              <a:ahLst/>
              <a:cxnLst/>
              <a:rect r="r" b="b" t="t" l="l"/>
              <a:pathLst>
                <a:path h="229808" w="885243">
                  <a:moveTo>
                    <a:pt x="96199" y="0"/>
                  </a:moveTo>
                  <a:lnTo>
                    <a:pt x="789044" y="0"/>
                  </a:lnTo>
                  <a:cubicBezTo>
                    <a:pt x="814558" y="0"/>
                    <a:pt x="839026" y="10135"/>
                    <a:pt x="857067" y="28176"/>
                  </a:cubicBezTo>
                  <a:cubicBezTo>
                    <a:pt x="875108" y="46217"/>
                    <a:pt x="885243" y="70685"/>
                    <a:pt x="885243" y="96199"/>
                  </a:cubicBezTo>
                  <a:lnTo>
                    <a:pt x="885243" y="133609"/>
                  </a:lnTo>
                  <a:cubicBezTo>
                    <a:pt x="885243" y="159123"/>
                    <a:pt x="875108" y="183591"/>
                    <a:pt x="857067" y="201632"/>
                  </a:cubicBezTo>
                  <a:cubicBezTo>
                    <a:pt x="839026" y="219673"/>
                    <a:pt x="814558" y="229808"/>
                    <a:pt x="789044" y="229808"/>
                  </a:cubicBezTo>
                  <a:lnTo>
                    <a:pt x="96199" y="229808"/>
                  </a:lnTo>
                  <a:cubicBezTo>
                    <a:pt x="70685" y="229808"/>
                    <a:pt x="46217" y="219673"/>
                    <a:pt x="28176" y="201632"/>
                  </a:cubicBezTo>
                  <a:cubicBezTo>
                    <a:pt x="10135" y="183591"/>
                    <a:pt x="0" y="159123"/>
                    <a:pt x="0" y="133609"/>
                  </a:cubicBezTo>
                  <a:lnTo>
                    <a:pt x="0" y="96199"/>
                  </a:lnTo>
                  <a:cubicBezTo>
                    <a:pt x="0" y="70685"/>
                    <a:pt x="10135" y="46217"/>
                    <a:pt x="28176" y="28176"/>
                  </a:cubicBezTo>
                  <a:cubicBezTo>
                    <a:pt x="46217" y="10135"/>
                    <a:pt x="70685" y="0"/>
                    <a:pt x="96199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05637" y="3341651"/>
            <a:ext cx="54913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Lý do chọn đề tài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54016" y="3341651"/>
            <a:ext cx="537996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tiêu nghiên cứu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80110" y="3341651"/>
            <a:ext cx="505718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Phạm vi nghiên cứu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661842" y="5143500"/>
            <a:ext cx="5491301" cy="1483338"/>
            <a:chOff x="0" y="0"/>
            <a:chExt cx="850746" cy="2298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0746" cy="229808"/>
            </a:xfrm>
            <a:custGeom>
              <a:avLst/>
              <a:gdLst/>
              <a:ahLst/>
              <a:cxnLst/>
              <a:rect r="r" b="b" t="t" l="l"/>
              <a:pathLst>
                <a:path h="229808" w="850746">
                  <a:moveTo>
                    <a:pt x="100099" y="0"/>
                  </a:moveTo>
                  <a:lnTo>
                    <a:pt x="750647" y="0"/>
                  </a:lnTo>
                  <a:cubicBezTo>
                    <a:pt x="805930" y="0"/>
                    <a:pt x="850746" y="44816"/>
                    <a:pt x="850746" y="100099"/>
                  </a:cubicBezTo>
                  <a:lnTo>
                    <a:pt x="850746" y="129708"/>
                  </a:lnTo>
                  <a:cubicBezTo>
                    <a:pt x="850746" y="156256"/>
                    <a:pt x="840200" y="181717"/>
                    <a:pt x="821428" y="200489"/>
                  </a:cubicBezTo>
                  <a:cubicBezTo>
                    <a:pt x="802655" y="219262"/>
                    <a:pt x="777195" y="229808"/>
                    <a:pt x="750647" y="229808"/>
                  </a:cubicBezTo>
                  <a:lnTo>
                    <a:pt x="100099" y="229808"/>
                  </a:lnTo>
                  <a:cubicBezTo>
                    <a:pt x="44816" y="229808"/>
                    <a:pt x="0" y="184992"/>
                    <a:pt x="0" y="129708"/>
                  </a:cubicBezTo>
                  <a:lnTo>
                    <a:pt x="0" y="100099"/>
                  </a:lnTo>
                  <a:cubicBezTo>
                    <a:pt x="0" y="44816"/>
                    <a:pt x="44816" y="0"/>
                    <a:pt x="100099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2661842" y="5507344"/>
            <a:ext cx="54913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quả đạt được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54016" y="7125215"/>
            <a:ext cx="5491301" cy="1483338"/>
            <a:chOff x="0" y="0"/>
            <a:chExt cx="850746" cy="229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0746" cy="229808"/>
            </a:xfrm>
            <a:custGeom>
              <a:avLst/>
              <a:gdLst/>
              <a:ahLst/>
              <a:cxnLst/>
              <a:rect r="r" b="b" t="t" l="l"/>
              <a:pathLst>
                <a:path h="229808" w="850746">
                  <a:moveTo>
                    <a:pt x="100099" y="0"/>
                  </a:moveTo>
                  <a:lnTo>
                    <a:pt x="750647" y="0"/>
                  </a:lnTo>
                  <a:cubicBezTo>
                    <a:pt x="805930" y="0"/>
                    <a:pt x="850746" y="44816"/>
                    <a:pt x="850746" y="100099"/>
                  </a:cubicBezTo>
                  <a:lnTo>
                    <a:pt x="850746" y="129708"/>
                  </a:lnTo>
                  <a:cubicBezTo>
                    <a:pt x="850746" y="156256"/>
                    <a:pt x="840200" y="181717"/>
                    <a:pt x="821428" y="200489"/>
                  </a:cubicBezTo>
                  <a:cubicBezTo>
                    <a:pt x="802655" y="219262"/>
                    <a:pt x="777195" y="229808"/>
                    <a:pt x="750647" y="229808"/>
                  </a:cubicBezTo>
                  <a:lnTo>
                    <a:pt x="100099" y="229808"/>
                  </a:lnTo>
                  <a:cubicBezTo>
                    <a:pt x="44816" y="229808"/>
                    <a:pt x="0" y="184992"/>
                    <a:pt x="0" y="129708"/>
                  </a:cubicBezTo>
                  <a:lnTo>
                    <a:pt x="0" y="100099"/>
                  </a:lnTo>
                  <a:cubicBezTo>
                    <a:pt x="0" y="44816"/>
                    <a:pt x="44816" y="0"/>
                    <a:pt x="100099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454016" y="7489059"/>
            <a:ext cx="54913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luận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0" y="5271533"/>
            <a:ext cx="5491301" cy="1483338"/>
            <a:chOff x="0" y="0"/>
            <a:chExt cx="850746" cy="229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0746" cy="229808"/>
            </a:xfrm>
            <a:custGeom>
              <a:avLst/>
              <a:gdLst/>
              <a:ahLst/>
              <a:cxnLst/>
              <a:rect r="r" b="b" t="t" l="l"/>
              <a:pathLst>
                <a:path h="229808" w="850746">
                  <a:moveTo>
                    <a:pt x="100099" y="0"/>
                  </a:moveTo>
                  <a:lnTo>
                    <a:pt x="750647" y="0"/>
                  </a:lnTo>
                  <a:cubicBezTo>
                    <a:pt x="805930" y="0"/>
                    <a:pt x="850746" y="44816"/>
                    <a:pt x="850746" y="100099"/>
                  </a:cubicBezTo>
                  <a:lnTo>
                    <a:pt x="850746" y="129708"/>
                  </a:lnTo>
                  <a:cubicBezTo>
                    <a:pt x="850746" y="156256"/>
                    <a:pt x="840200" y="181717"/>
                    <a:pt x="821428" y="200489"/>
                  </a:cubicBezTo>
                  <a:cubicBezTo>
                    <a:pt x="802655" y="219262"/>
                    <a:pt x="777195" y="229808"/>
                    <a:pt x="750647" y="229808"/>
                  </a:cubicBezTo>
                  <a:lnTo>
                    <a:pt x="100099" y="229808"/>
                  </a:lnTo>
                  <a:cubicBezTo>
                    <a:pt x="44816" y="229808"/>
                    <a:pt x="0" y="184992"/>
                    <a:pt x="0" y="129708"/>
                  </a:cubicBezTo>
                  <a:lnTo>
                    <a:pt x="0" y="100099"/>
                  </a:lnTo>
                  <a:cubicBezTo>
                    <a:pt x="0" y="44816"/>
                    <a:pt x="44816" y="0"/>
                    <a:pt x="100099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199666" y="5594621"/>
            <a:ext cx="5491301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Hướng phát triển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195740" y="6013202"/>
            <a:ext cx="5357753" cy="5591583"/>
          </a:xfrm>
          <a:custGeom>
            <a:avLst/>
            <a:gdLst/>
            <a:ahLst/>
            <a:cxnLst/>
            <a:rect r="r" b="b" t="t" l="l"/>
            <a:pathLst>
              <a:path h="5591583" w="535775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2601733" y="6754871"/>
            <a:ext cx="6414740" cy="6631780"/>
          </a:xfrm>
          <a:custGeom>
            <a:avLst/>
            <a:gdLst/>
            <a:ahLst/>
            <a:cxnLst/>
            <a:rect r="r" b="b" t="t" l="l"/>
            <a:pathLst>
              <a:path h="6631780" w="6414740">
                <a:moveTo>
                  <a:pt x="0" y="0"/>
                </a:moveTo>
                <a:lnTo>
                  <a:pt x="6414740" y="0"/>
                </a:lnTo>
                <a:lnTo>
                  <a:pt x="6414740" y="6631781"/>
                </a:lnTo>
                <a:lnTo>
                  <a:pt x="0" y="6631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15915" y="6492868"/>
            <a:ext cx="5131837" cy="4114800"/>
          </a:xfrm>
          <a:custGeom>
            <a:avLst/>
            <a:gdLst/>
            <a:ahLst/>
            <a:cxnLst/>
            <a:rect r="r" b="b" t="t" l="l"/>
            <a:pathLst>
              <a:path h="4114800" w="5131837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9263" y="-2596953"/>
            <a:ext cx="4317873" cy="5892879"/>
          </a:xfrm>
          <a:custGeom>
            <a:avLst/>
            <a:gdLst/>
            <a:ahLst/>
            <a:cxnLst/>
            <a:rect r="r" b="b" t="t" l="l"/>
            <a:pathLst>
              <a:path h="5892879" w="4317873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00699" y="4943961"/>
            <a:ext cx="6637271" cy="5832094"/>
          </a:xfrm>
          <a:custGeom>
            <a:avLst/>
            <a:gdLst/>
            <a:ahLst/>
            <a:cxnLst/>
            <a:rect r="r" b="b" t="t" l="l"/>
            <a:pathLst>
              <a:path h="5832094" w="6637271">
                <a:moveTo>
                  <a:pt x="0" y="0"/>
                </a:moveTo>
                <a:lnTo>
                  <a:pt x="6637271" y="0"/>
                </a:lnTo>
                <a:lnTo>
                  <a:pt x="6637271" y="5832094"/>
                </a:lnTo>
                <a:lnTo>
                  <a:pt x="0" y="5832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68610" y="499515"/>
            <a:ext cx="12897771" cy="7360493"/>
            <a:chOff x="0" y="0"/>
            <a:chExt cx="1214955" cy="693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4955" cy="693350"/>
            </a:xfrm>
            <a:custGeom>
              <a:avLst/>
              <a:gdLst/>
              <a:ahLst/>
              <a:cxnLst/>
              <a:rect r="r" b="b" t="t" l="l"/>
              <a:pathLst>
                <a:path h="693350" w="1214955">
                  <a:moveTo>
                    <a:pt x="42618" y="0"/>
                  </a:moveTo>
                  <a:lnTo>
                    <a:pt x="1172337" y="0"/>
                  </a:lnTo>
                  <a:cubicBezTo>
                    <a:pt x="1183640" y="0"/>
                    <a:pt x="1194480" y="4490"/>
                    <a:pt x="1202472" y="12483"/>
                  </a:cubicBezTo>
                  <a:cubicBezTo>
                    <a:pt x="1210465" y="20475"/>
                    <a:pt x="1214955" y="31315"/>
                    <a:pt x="1214955" y="42618"/>
                  </a:cubicBezTo>
                  <a:lnTo>
                    <a:pt x="1214955" y="650732"/>
                  </a:lnTo>
                  <a:cubicBezTo>
                    <a:pt x="1214955" y="674269"/>
                    <a:pt x="1195874" y="693350"/>
                    <a:pt x="1172337" y="693350"/>
                  </a:cubicBezTo>
                  <a:lnTo>
                    <a:pt x="42618" y="693350"/>
                  </a:lnTo>
                  <a:cubicBezTo>
                    <a:pt x="31315" y="693350"/>
                    <a:pt x="20475" y="688860"/>
                    <a:pt x="12483" y="680867"/>
                  </a:cubicBezTo>
                  <a:cubicBezTo>
                    <a:pt x="4490" y="672875"/>
                    <a:pt x="0" y="662035"/>
                    <a:pt x="0" y="650732"/>
                  </a:cubicBezTo>
                  <a:lnTo>
                    <a:pt x="0" y="42618"/>
                  </a:lnTo>
                  <a:cubicBezTo>
                    <a:pt x="0" y="31315"/>
                    <a:pt x="4490" y="20475"/>
                    <a:pt x="12483" y="12483"/>
                  </a:cubicBezTo>
                  <a:cubicBezTo>
                    <a:pt x="20475" y="4490"/>
                    <a:pt x="31315" y="0"/>
                    <a:pt x="42618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968610" y="458212"/>
            <a:ext cx="5491301" cy="1483338"/>
            <a:chOff x="0" y="0"/>
            <a:chExt cx="850746" cy="2298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0746" cy="229808"/>
            </a:xfrm>
            <a:custGeom>
              <a:avLst/>
              <a:gdLst/>
              <a:ahLst/>
              <a:cxnLst/>
              <a:rect r="r" b="b" t="t" l="l"/>
              <a:pathLst>
                <a:path h="229808" w="850746">
                  <a:moveTo>
                    <a:pt x="100099" y="0"/>
                  </a:moveTo>
                  <a:lnTo>
                    <a:pt x="750647" y="0"/>
                  </a:lnTo>
                  <a:cubicBezTo>
                    <a:pt x="805930" y="0"/>
                    <a:pt x="850746" y="44816"/>
                    <a:pt x="850746" y="100099"/>
                  </a:cubicBezTo>
                  <a:lnTo>
                    <a:pt x="850746" y="129708"/>
                  </a:lnTo>
                  <a:cubicBezTo>
                    <a:pt x="850746" y="156256"/>
                    <a:pt x="840200" y="181717"/>
                    <a:pt x="821428" y="200489"/>
                  </a:cubicBezTo>
                  <a:cubicBezTo>
                    <a:pt x="802655" y="219262"/>
                    <a:pt x="777195" y="229808"/>
                    <a:pt x="750647" y="229808"/>
                  </a:cubicBezTo>
                  <a:lnTo>
                    <a:pt x="100099" y="229808"/>
                  </a:lnTo>
                  <a:cubicBezTo>
                    <a:pt x="44816" y="229808"/>
                    <a:pt x="0" y="184992"/>
                    <a:pt x="0" y="129708"/>
                  </a:cubicBezTo>
                  <a:lnTo>
                    <a:pt x="0" y="100099"/>
                  </a:lnTo>
                  <a:cubicBezTo>
                    <a:pt x="0" y="44816"/>
                    <a:pt x="44816" y="0"/>
                    <a:pt x="100099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205103" y="822056"/>
            <a:ext cx="54913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Lý do chọn đề tài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05501" y="1884400"/>
            <a:ext cx="12303571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</a:t>
            </a:r>
            <a:r>
              <a:rPr lang="en-US" b="true" sz="32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Nhận diện chữ số viết tay là bài toán tiêu biểu trong học máy và xử lý ảnh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-Có nhiều ứng dụng thực tiễn như OCR, số hóa dữ liệu, xử lý biểu mẫu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-Chữ viết tay đa dạng về nét, kích thước → khó phân loại chính xác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-Thuật toán KNN đơn giản, trực quan, phù hợp cho nghiên cứu cơ bản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-Giúp hiểu rõ quy trình xây dựng mô hình học máy từ dữ liệu đến ứng dụng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08887" y="233780"/>
            <a:ext cx="5713966" cy="1483338"/>
            <a:chOff x="0" y="0"/>
            <a:chExt cx="885243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5243" cy="229808"/>
            </a:xfrm>
            <a:custGeom>
              <a:avLst/>
              <a:gdLst/>
              <a:ahLst/>
              <a:cxnLst/>
              <a:rect r="r" b="b" t="t" l="l"/>
              <a:pathLst>
                <a:path h="229808" w="885243">
                  <a:moveTo>
                    <a:pt x="96199" y="0"/>
                  </a:moveTo>
                  <a:lnTo>
                    <a:pt x="789044" y="0"/>
                  </a:lnTo>
                  <a:cubicBezTo>
                    <a:pt x="814558" y="0"/>
                    <a:pt x="839026" y="10135"/>
                    <a:pt x="857067" y="28176"/>
                  </a:cubicBezTo>
                  <a:cubicBezTo>
                    <a:pt x="875108" y="46217"/>
                    <a:pt x="885243" y="70685"/>
                    <a:pt x="885243" y="96199"/>
                  </a:cubicBezTo>
                  <a:lnTo>
                    <a:pt x="885243" y="133609"/>
                  </a:lnTo>
                  <a:cubicBezTo>
                    <a:pt x="885243" y="159123"/>
                    <a:pt x="875108" y="183591"/>
                    <a:pt x="857067" y="201632"/>
                  </a:cubicBezTo>
                  <a:cubicBezTo>
                    <a:pt x="839026" y="219673"/>
                    <a:pt x="814558" y="229808"/>
                    <a:pt x="789044" y="229808"/>
                  </a:cubicBezTo>
                  <a:lnTo>
                    <a:pt x="96199" y="229808"/>
                  </a:lnTo>
                  <a:cubicBezTo>
                    <a:pt x="70685" y="229808"/>
                    <a:pt x="46217" y="219673"/>
                    <a:pt x="28176" y="201632"/>
                  </a:cubicBezTo>
                  <a:cubicBezTo>
                    <a:pt x="10135" y="183591"/>
                    <a:pt x="0" y="159123"/>
                    <a:pt x="0" y="133609"/>
                  </a:cubicBezTo>
                  <a:lnTo>
                    <a:pt x="0" y="96199"/>
                  </a:lnTo>
                  <a:cubicBezTo>
                    <a:pt x="0" y="70685"/>
                    <a:pt x="10135" y="46217"/>
                    <a:pt x="28176" y="28176"/>
                  </a:cubicBezTo>
                  <a:cubicBezTo>
                    <a:pt x="46217" y="10135"/>
                    <a:pt x="70685" y="0"/>
                    <a:pt x="96199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792502" y="1895250"/>
            <a:ext cx="6985833" cy="3623901"/>
          </a:xfrm>
          <a:custGeom>
            <a:avLst/>
            <a:gdLst/>
            <a:ahLst/>
            <a:cxnLst/>
            <a:rect r="r" b="b" t="t" l="l"/>
            <a:pathLst>
              <a:path h="3623901" w="6985833">
                <a:moveTo>
                  <a:pt x="0" y="0"/>
                </a:moveTo>
                <a:lnTo>
                  <a:pt x="6985833" y="0"/>
                </a:lnTo>
                <a:lnTo>
                  <a:pt x="6985833" y="3623901"/>
                </a:lnTo>
                <a:lnTo>
                  <a:pt x="0" y="3623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546466" y="1895250"/>
            <a:ext cx="6985833" cy="3623901"/>
          </a:xfrm>
          <a:custGeom>
            <a:avLst/>
            <a:gdLst/>
            <a:ahLst/>
            <a:cxnLst/>
            <a:rect r="r" b="b" t="t" l="l"/>
            <a:pathLst>
              <a:path h="3623901" w="6985833">
                <a:moveTo>
                  <a:pt x="6985833" y="0"/>
                </a:moveTo>
                <a:lnTo>
                  <a:pt x="0" y="0"/>
                </a:lnTo>
                <a:lnTo>
                  <a:pt x="0" y="3623901"/>
                </a:lnTo>
                <a:lnTo>
                  <a:pt x="6985833" y="3623901"/>
                </a:lnTo>
                <a:lnTo>
                  <a:pt x="698583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546466" y="6138276"/>
            <a:ext cx="6985833" cy="3623901"/>
          </a:xfrm>
          <a:custGeom>
            <a:avLst/>
            <a:gdLst/>
            <a:ahLst/>
            <a:cxnLst/>
            <a:rect r="r" b="b" t="t" l="l"/>
            <a:pathLst>
              <a:path h="3623901" w="6985833">
                <a:moveTo>
                  <a:pt x="6985833" y="3623901"/>
                </a:moveTo>
                <a:lnTo>
                  <a:pt x="0" y="3623901"/>
                </a:lnTo>
                <a:lnTo>
                  <a:pt x="0" y="0"/>
                </a:lnTo>
                <a:lnTo>
                  <a:pt x="6985833" y="0"/>
                </a:lnTo>
                <a:lnTo>
                  <a:pt x="6985833" y="3623901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0792502" y="6138276"/>
            <a:ext cx="6985833" cy="3623901"/>
          </a:xfrm>
          <a:custGeom>
            <a:avLst/>
            <a:gdLst/>
            <a:ahLst/>
            <a:cxnLst/>
            <a:rect r="r" b="b" t="t" l="l"/>
            <a:pathLst>
              <a:path h="3623901" w="6985833">
                <a:moveTo>
                  <a:pt x="0" y="3623901"/>
                </a:moveTo>
                <a:lnTo>
                  <a:pt x="6985833" y="3623901"/>
                </a:lnTo>
                <a:lnTo>
                  <a:pt x="6985833" y="0"/>
                </a:lnTo>
                <a:lnTo>
                  <a:pt x="0" y="0"/>
                </a:lnTo>
                <a:lnTo>
                  <a:pt x="0" y="3623901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79980" y="4659141"/>
            <a:ext cx="3212522" cy="2948288"/>
          </a:xfrm>
          <a:custGeom>
            <a:avLst/>
            <a:gdLst/>
            <a:ahLst/>
            <a:cxnLst/>
            <a:rect r="r" b="b" t="t" l="l"/>
            <a:pathLst>
              <a:path h="2948288" w="3212522">
                <a:moveTo>
                  <a:pt x="0" y="0"/>
                </a:moveTo>
                <a:lnTo>
                  <a:pt x="3212522" y="0"/>
                </a:lnTo>
                <a:lnTo>
                  <a:pt x="3212522" y="2948289"/>
                </a:lnTo>
                <a:lnTo>
                  <a:pt x="0" y="2948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75886" y="597624"/>
            <a:ext cx="537996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tiêu nghiên cứu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466" y="2125491"/>
            <a:ext cx="6985833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</a:t>
            </a:r>
            <a:r>
              <a:rPr lang="en-US" b="true" sz="3500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iêu 1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Tìm hiểu cơ sở lý thuyết của học máy và thuật toán KNN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792502" y="2125491"/>
            <a:ext cx="6985833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</a:t>
            </a:r>
            <a:r>
              <a:rPr lang="en-US" b="true" sz="3500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iêu 2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Nghiên cứu cách áp dụng KNN trong phân loại ảnh chữ số viết tay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792502" y="6922056"/>
            <a:ext cx="6985833" cy="304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5"/>
              </a:lnSpc>
              <a:spcBef>
                <a:spcPct val="0"/>
              </a:spcBef>
            </a:pPr>
            <a:r>
              <a:rPr lang="en-US" b="true" sz="3367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</a:t>
            </a:r>
            <a:r>
              <a:rPr lang="en-US" b="true" sz="3367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iêu 4</a:t>
            </a:r>
          </a:p>
          <a:p>
            <a:pPr algn="ctr">
              <a:lnSpc>
                <a:spcPts val="4715"/>
              </a:lnSpc>
              <a:spcBef>
                <a:spcPct val="0"/>
              </a:spcBef>
            </a:pPr>
            <a:r>
              <a:rPr lang="en-US" b="true" sz="3367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Phát triển ứng dụng minh họa nhận diện chữ số viết tay bằng Python</a:t>
            </a:r>
          </a:p>
          <a:p>
            <a:pPr algn="ctr">
              <a:lnSpc>
                <a:spcPts val="5388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46466" y="6922056"/>
            <a:ext cx="6985833" cy="304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5"/>
              </a:lnSpc>
              <a:spcBef>
                <a:spcPct val="0"/>
              </a:spcBef>
            </a:pPr>
            <a:r>
              <a:rPr lang="en-US" b="true" sz="3367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</a:t>
            </a:r>
            <a:r>
              <a:rPr lang="en-US" b="true" sz="3367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iêu 3</a:t>
            </a:r>
          </a:p>
          <a:p>
            <a:pPr algn="ctr">
              <a:lnSpc>
                <a:spcPts val="4715"/>
              </a:lnSpc>
              <a:spcBef>
                <a:spcPct val="0"/>
              </a:spcBef>
            </a:pPr>
            <a:r>
              <a:rPr lang="en-US" b="true" sz="3367">
                <a:solidFill>
                  <a:srgbClr val="2B4B8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Xây dựng mô hình nhận diện chữ số viết tay trên bộ dữ liệu MNIST</a:t>
            </a:r>
          </a:p>
          <a:p>
            <a:pPr algn="ctr">
              <a:lnSpc>
                <a:spcPts val="53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48829" y="149995"/>
            <a:ext cx="5580367" cy="1483338"/>
            <a:chOff x="0" y="0"/>
            <a:chExt cx="864545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4545" cy="229808"/>
            </a:xfrm>
            <a:custGeom>
              <a:avLst/>
              <a:gdLst/>
              <a:ahLst/>
              <a:cxnLst/>
              <a:rect r="r" b="b" t="t" l="l"/>
              <a:pathLst>
                <a:path h="229808" w="864545">
                  <a:moveTo>
                    <a:pt x="98502" y="0"/>
                  </a:moveTo>
                  <a:lnTo>
                    <a:pt x="766043" y="0"/>
                  </a:lnTo>
                  <a:cubicBezTo>
                    <a:pt x="792167" y="0"/>
                    <a:pt x="817222" y="10378"/>
                    <a:pt x="835694" y="28851"/>
                  </a:cubicBezTo>
                  <a:cubicBezTo>
                    <a:pt x="854167" y="47323"/>
                    <a:pt x="864545" y="72378"/>
                    <a:pt x="864545" y="98502"/>
                  </a:cubicBezTo>
                  <a:lnTo>
                    <a:pt x="864545" y="131306"/>
                  </a:lnTo>
                  <a:cubicBezTo>
                    <a:pt x="864545" y="157430"/>
                    <a:pt x="854167" y="182485"/>
                    <a:pt x="835694" y="200957"/>
                  </a:cubicBezTo>
                  <a:cubicBezTo>
                    <a:pt x="817222" y="219430"/>
                    <a:pt x="792167" y="229808"/>
                    <a:pt x="766043" y="229808"/>
                  </a:cubicBezTo>
                  <a:lnTo>
                    <a:pt x="98502" y="229808"/>
                  </a:lnTo>
                  <a:cubicBezTo>
                    <a:pt x="72378" y="229808"/>
                    <a:pt x="47323" y="219430"/>
                    <a:pt x="28851" y="200957"/>
                  </a:cubicBezTo>
                  <a:cubicBezTo>
                    <a:pt x="10378" y="182485"/>
                    <a:pt x="0" y="157430"/>
                    <a:pt x="0" y="131306"/>
                  </a:cubicBezTo>
                  <a:lnTo>
                    <a:pt x="0" y="98502"/>
                  </a:lnTo>
                  <a:cubicBezTo>
                    <a:pt x="0" y="72378"/>
                    <a:pt x="10378" y="47323"/>
                    <a:pt x="28851" y="28851"/>
                  </a:cubicBezTo>
                  <a:cubicBezTo>
                    <a:pt x="47323" y="10378"/>
                    <a:pt x="72378" y="0"/>
                    <a:pt x="98502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42137" y="1838798"/>
            <a:ext cx="7740213" cy="2837106"/>
            <a:chOff x="0" y="0"/>
            <a:chExt cx="1199162" cy="4395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9162" cy="439542"/>
            </a:xfrm>
            <a:custGeom>
              <a:avLst/>
              <a:gdLst/>
              <a:ahLst/>
              <a:cxnLst/>
              <a:rect r="r" b="b" t="t" l="l"/>
              <a:pathLst>
                <a:path h="439542" w="1199162">
                  <a:moveTo>
                    <a:pt x="71016" y="0"/>
                  </a:moveTo>
                  <a:lnTo>
                    <a:pt x="1128146" y="0"/>
                  </a:lnTo>
                  <a:cubicBezTo>
                    <a:pt x="1146980" y="0"/>
                    <a:pt x="1165044" y="7482"/>
                    <a:pt x="1178362" y="20800"/>
                  </a:cubicBezTo>
                  <a:cubicBezTo>
                    <a:pt x="1191680" y="34118"/>
                    <a:pt x="1199162" y="52181"/>
                    <a:pt x="1199162" y="71016"/>
                  </a:cubicBezTo>
                  <a:lnTo>
                    <a:pt x="1199162" y="368526"/>
                  </a:lnTo>
                  <a:cubicBezTo>
                    <a:pt x="1199162" y="407747"/>
                    <a:pt x="1167367" y="439542"/>
                    <a:pt x="1128146" y="439542"/>
                  </a:cubicBezTo>
                  <a:lnTo>
                    <a:pt x="71016" y="439542"/>
                  </a:lnTo>
                  <a:cubicBezTo>
                    <a:pt x="52181" y="439542"/>
                    <a:pt x="34118" y="432060"/>
                    <a:pt x="20800" y="418742"/>
                  </a:cubicBezTo>
                  <a:cubicBezTo>
                    <a:pt x="7482" y="405424"/>
                    <a:pt x="0" y="387361"/>
                    <a:pt x="0" y="368526"/>
                  </a:cubicBezTo>
                  <a:lnTo>
                    <a:pt x="0" y="71016"/>
                  </a:lnTo>
                  <a:cubicBezTo>
                    <a:pt x="0" y="31795"/>
                    <a:pt x="31795" y="0"/>
                    <a:pt x="71016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19087" y="1838798"/>
            <a:ext cx="7740213" cy="2837106"/>
            <a:chOff x="0" y="0"/>
            <a:chExt cx="1199162" cy="4395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162" cy="439542"/>
            </a:xfrm>
            <a:custGeom>
              <a:avLst/>
              <a:gdLst/>
              <a:ahLst/>
              <a:cxnLst/>
              <a:rect r="r" b="b" t="t" l="l"/>
              <a:pathLst>
                <a:path h="439542" w="1199162">
                  <a:moveTo>
                    <a:pt x="71016" y="0"/>
                  </a:moveTo>
                  <a:lnTo>
                    <a:pt x="1128146" y="0"/>
                  </a:lnTo>
                  <a:cubicBezTo>
                    <a:pt x="1146980" y="0"/>
                    <a:pt x="1165044" y="7482"/>
                    <a:pt x="1178362" y="20800"/>
                  </a:cubicBezTo>
                  <a:cubicBezTo>
                    <a:pt x="1191680" y="34118"/>
                    <a:pt x="1199162" y="52181"/>
                    <a:pt x="1199162" y="71016"/>
                  </a:cubicBezTo>
                  <a:lnTo>
                    <a:pt x="1199162" y="368526"/>
                  </a:lnTo>
                  <a:cubicBezTo>
                    <a:pt x="1199162" y="407747"/>
                    <a:pt x="1167367" y="439542"/>
                    <a:pt x="1128146" y="439542"/>
                  </a:cubicBezTo>
                  <a:lnTo>
                    <a:pt x="71016" y="439542"/>
                  </a:lnTo>
                  <a:cubicBezTo>
                    <a:pt x="52181" y="439542"/>
                    <a:pt x="34118" y="432060"/>
                    <a:pt x="20800" y="418742"/>
                  </a:cubicBezTo>
                  <a:cubicBezTo>
                    <a:pt x="7482" y="405424"/>
                    <a:pt x="0" y="387361"/>
                    <a:pt x="0" y="368526"/>
                  </a:cubicBezTo>
                  <a:lnTo>
                    <a:pt x="0" y="71016"/>
                  </a:lnTo>
                  <a:cubicBezTo>
                    <a:pt x="0" y="31795"/>
                    <a:pt x="31795" y="0"/>
                    <a:pt x="71016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42137" y="4885454"/>
            <a:ext cx="7740213" cy="2837106"/>
            <a:chOff x="0" y="0"/>
            <a:chExt cx="1199162" cy="4395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9162" cy="439542"/>
            </a:xfrm>
            <a:custGeom>
              <a:avLst/>
              <a:gdLst/>
              <a:ahLst/>
              <a:cxnLst/>
              <a:rect r="r" b="b" t="t" l="l"/>
              <a:pathLst>
                <a:path h="439542" w="1199162">
                  <a:moveTo>
                    <a:pt x="71016" y="0"/>
                  </a:moveTo>
                  <a:lnTo>
                    <a:pt x="1128146" y="0"/>
                  </a:lnTo>
                  <a:cubicBezTo>
                    <a:pt x="1146980" y="0"/>
                    <a:pt x="1165044" y="7482"/>
                    <a:pt x="1178362" y="20800"/>
                  </a:cubicBezTo>
                  <a:cubicBezTo>
                    <a:pt x="1191680" y="34118"/>
                    <a:pt x="1199162" y="52181"/>
                    <a:pt x="1199162" y="71016"/>
                  </a:cubicBezTo>
                  <a:lnTo>
                    <a:pt x="1199162" y="368526"/>
                  </a:lnTo>
                  <a:cubicBezTo>
                    <a:pt x="1199162" y="407747"/>
                    <a:pt x="1167367" y="439542"/>
                    <a:pt x="1128146" y="439542"/>
                  </a:cubicBezTo>
                  <a:lnTo>
                    <a:pt x="71016" y="439542"/>
                  </a:lnTo>
                  <a:cubicBezTo>
                    <a:pt x="52181" y="439542"/>
                    <a:pt x="34118" y="432060"/>
                    <a:pt x="20800" y="418742"/>
                  </a:cubicBezTo>
                  <a:cubicBezTo>
                    <a:pt x="7482" y="405424"/>
                    <a:pt x="0" y="387361"/>
                    <a:pt x="0" y="368526"/>
                  </a:cubicBezTo>
                  <a:lnTo>
                    <a:pt x="0" y="71016"/>
                  </a:lnTo>
                  <a:cubicBezTo>
                    <a:pt x="0" y="31795"/>
                    <a:pt x="31795" y="0"/>
                    <a:pt x="71016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19087" y="4885454"/>
            <a:ext cx="7740213" cy="2837106"/>
            <a:chOff x="0" y="0"/>
            <a:chExt cx="1199162" cy="439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9162" cy="439542"/>
            </a:xfrm>
            <a:custGeom>
              <a:avLst/>
              <a:gdLst/>
              <a:ahLst/>
              <a:cxnLst/>
              <a:rect r="r" b="b" t="t" l="l"/>
              <a:pathLst>
                <a:path h="439542" w="1199162">
                  <a:moveTo>
                    <a:pt x="71016" y="0"/>
                  </a:moveTo>
                  <a:lnTo>
                    <a:pt x="1128146" y="0"/>
                  </a:lnTo>
                  <a:cubicBezTo>
                    <a:pt x="1146980" y="0"/>
                    <a:pt x="1165044" y="7482"/>
                    <a:pt x="1178362" y="20800"/>
                  </a:cubicBezTo>
                  <a:cubicBezTo>
                    <a:pt x="1191680" y="34118"/>
                    <a:pt x="1199162" y="52181"/>
                    <a:pt x="1199162" y="71016"/>
                  </a:cubicBezTo>
                  <a:lnTo>
                    <a:pt x="1199162" y="368526"/>
                  </a:lnTo>
                  <a:cubicBezTo>
                    <a:pt x="1199162" y="407747"/>
                    <a:pt x="1167367" y="439542"/>
                    <a:pt x="1128146" y="439542"/>
                  </a:cubicBezTo>
                  <a:lnTo>
                    <a:pt x="71016" y="439542"/>
                  </a:lnTo>
                  <a:cubicBezTo>
                    <a:pt x="52181" y="439542"/>
                    <a:pt x="34118" y="432060"/>
                    <a:pt x="20800" y="418742"/>
                  </a:cubicBezTo>
                  <a:cubicBezTo>
                    <a:pt x="7482" y="405424"/>
                    <a:pt x="0" y="387361"/>
                    <a:pt x="0" y="368526"/>
                  </a:cubicBezTo>
                  <a:lnTo>
                    <a:pt x="0" y="71016"/>
                  </a:lnTo>
                  <a:cubicBezTo>
                    <a:pt x="0" y="31795"/>
                    <a:pt x="31795" y="0"/>
                    <a:pt x="71016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12244" y="8744911"/>
            <a:ext cx="2114597" cy="1132057"/>
          </a:xfrm>
          <a:custGeom>
            <a:avLst/>
            <a:gdLst/>
            <a:ahLst/>
            <a:cxnLst/>
            <a:rect r="r" b="b" t="t" l="l"/>
            <a:pathLst>
              <a:path h="1132057" w="2114597">
                <a:moveTo>
                  <a:pt x="0" y="0"/>
                </a:moveTo>
                <a:lnTo>
                  <a:pt x="2114596" y="0"/>
                </a:lnTo>
                <a:lnTo>
                  <a:pt x="2114596" y="1132056"/>
                </a:lnTo>
                <a:lnTo>
                  <a:pt x="0" y="1132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72939" y="8744911"/>
            <a:ext cx="2067234" cy="1132057"/>
          </a:xfrm>
          <a:custGeom>
            <a:avLst/>
            <a:gdLst/>
            <a:ahLst/>
            <a:cxnLst/>
            <a:rect r="r" b="b" t="t" l="l"/>
            <a:pathLst>
              <a:path h="1132057" w="2067234">
                <a:moveTo>
                  <a:pt x="0" y="0"/>
                </a:moveTo>
                <a:lnTo>
                  <a:pt x="2067234" y="0"/>
                </a:lnTo>
                <a:lnTo>
                  <a:pt x="2067234" y="1132056"/>
                </a:lnTo>
                <a:lnTo>
                  <a:pt x="0" y="113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83098" y="8744911"/>
            <a:ext cx="1089768" cy="1132057"/>
          </a:xfrm>
          <a:custGeom>
            <a:avLst/>
            <a:gdLst/>
            <a:ahLst/>
            <a:cxnLst/>
            <a:rect r="r" b="b" t="t" l="l"/>
            <a:pathLst>
              <a:path h="1132057" w="1089768">
                <a:moveTo>
                  <a:pt x="0" y="0"/>
                </a:moveTo>
                <a:lnTo>
                  <a:pt x="1089768" y="0"/>
                </a:lnTo>
                <a:lnTo>
                  <a:pt x="1089768" y="1132056"/>
                </a:lnTo>
                <a:lnTo>
                  <a:pt x="0" y="1132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07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50423" y="8744911"/>
            <a:ext cx="2158362" cy="1132057"/>
          </a:xfrm>
          <a:custGeom>
            <a:avLst/>
            <a:gdLst/>
            <a:ahLst/>
            <a:cxnLst/>
            <a:rect r="r" b="b" t="t" l="l"/>
            <a:pathLst>
              <a:path h="1132057" w="2158362">
                <a:moveTo>
                  <a:pt x="0" y="0"/>
                </a:moveTo>
                <a:lnTo>
                  <a:pt x="2158362" y="0"/>
                </a:lnTo>
                <a:lnTo>
                  <a:pt x="2158362" y="1132056"/>
                </a:lnTo>
                <a:lnTo>
                  <a:pt x="0" y="1132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90" t="0" r="-149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7932" y="2174676"/>
            <a:ext cx="7388624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Nghiên cứu thuật toán K-Nearest Neighbors (KNN) trong học máy có giám sát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22902" y="513840"/>
            <a:ext cx="505718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Phạm vi nghiên cứu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9087" y="2527101"/>
            <a:ext cx="774021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Áp dụn</a:t>
            </a: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 cho bài toán phân loại ảnh chữ số viết tay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2137" y="5571254"/>
            <a:ext cx="774021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Sử dụn</a:t>
            </a: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 bộ dữ liệu MNIST, gồm chữ số từ 0 đến 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9087" y="5571254"/>
            <a:ext cx="774021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Triển khai mô hình và ứng dụn</a:t>
            </a: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 bằng ngôn ngữ Python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22902" y="7855910"/>
            <a:ext cx="492752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Công nghệ sử dụng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31126" y="149995"/>
            <a:ext cx="12950565" cy="1483338"/>
            <a:chOff x="0" y="0"/>
            <a:chExt cx="2006381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6381" cy="229808"/>
            </a:xfrm>
            <a:custGeom>
              <a:avLst/>
              <a:gdLst/>
              <a:ahLst/>
              <a:cxnLst/>
              <a:rect r="r" b="b" t="t" l="l"/>
              <a:pathLst>
                <a:path h="229808" w="2006381">
                  <a:moveTo>
                    <a:pt x="42444" y="0"/>
                  </a:moveTo>
                  <a:lnTo>
                    <a:pt x="1963937" y="0"/>
                  </a:lnTo>
                  <a:cubicBezTo>
                    <a:pt x="1975194" y="0"/>
                    <a:pt x="1985990" y="4472"/>
                    <a:pt x="1993950" y="12432"/>
                  </a:cubicBezTo>
                  <a:cubicBezTo>
                    <a:pt x="2001910" y="20391"/>
                    <a:pt x="2006381" y="31187"/>
                    <a:pt x="2006381" y="42444"/>
                  </a:cubicBezTo>
                  <a:lnTo>
                    <a:pt x="2006381" y="187364"/>
                  </a:lnTo>
                  <a:cubicBezTo>
                    <a:pt x="2006381" y="210805"/>
                    <a:pt x="1987378" y="229808"/>
                    <a:pt x="1963937" y="229808"/>
                  </a:cubicBezTo>
                  <a:lnTo>
                    <a:pt x="42444" y="229808"/>
                  </a:lnTo>
                  <a:cubicBezTo>
                    <a:pt x="19003" y="229808"/>
                    <a:pt x="0" y="210805"/>
                    <a:pt x="0" y="187364"/>
                  </a:cubicBezTo>
                  <a:lnTo>
                    <a:pt x="0" y="42444"/>
                  </a:lnTo>
                  <a:cubicBezTo>
                    <a:pt x="0" y="19003"/>
                    <a:pt x="19003" y="0"/>
                    <a:pt x="42444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44000" y="5308003"/>
            <a:ext cx="7528314" cy="3950297"/>
          </a:xfrm>
          <a:custGeom>
            <a:avLst/>
            <a:gdLst/>
            <a:ahLst/>
            <a:cxnLst/>
            <a:rect r="r" b="b" t="t" l="l"/>
            <a:pathLst>
              <a:path h="3950297" w="7528314">
                <a:moveTo>
                  <a:pt x="0" y="0"/>
                </a:moveTo>
                <a:lnTo>
                  <a:pt x="7528314" y="0"/>
                </a:lnTo>
                <a:lnTo>
                  <a:pt x="7528314" y="3950297"/>
                </a:lnTo>
                <a:lnTo>
                  <a:pt x="0" y="3950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6499" y="5308003"/>
            <a:ext cx="7588172" cy="3950297"/>
          </a:xfrm>
          <a:custGeom>
            <a:avLst/>
            <a:gdLst/>
            <a:ahLst/>
            <a:cxnLst/>
            <a:rect r="r" b="b" t="t" l="l"/>
            <a:pathLst>
              <a:path h="3950297" w="7588172">
                <a:moveTo>
                  <a:pt x="0" y="0"/>
                </a:moveTo>
                <a:lnTo>
                  <a:pt x="7588172" y="0"/>
                </a:lnTo>
                <a:lnTo>
                  <a:pt x="7588172" y="3950297"/>
                </a:lnTo>
                <a:lnTo>
                  <a:pt x="0" y="3950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56" t="0" r="-555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31126" y="513840"/>
            <a:ext cx="1295056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Tổng quan thuật toán KNN(K-Nearest Neighbors)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8784" y="1778753"/>
            <a:ext cx="14745709" cy="392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1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-K</a:t>
            </a:r>
            <a:r>
              <a:rPr lang="en-US" b="true" sz="312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NN (K-Nearest Neighbors) là thuật toán học máy có giám sát</a:t>
            </a:r>
          </a:p>
          <a:p>
            <a:pPr algn="just">
              <a:lnSpc>
                <a:spcPts val="4381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-Ý tưởng chính: phân loại mẫu mới dựa trên K mẫu gần nhất trong tập huấn luyện</a:t>
            </a:r>
          </a:p>
          <a:p>
            <a:pPr algn="just">
              <a:lnSpc>
                <a:spcPts val="4381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-Khoảng cách giữa các mẫu được đo bằng khoảng cách Euclid</a:t>
            </a:r>
          </a:p>
          <a:p>
            <a:pPr algn="just">
              <a:lnSpc>
                <a:spcPts val="4381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-Nhãn của mẫu mới được xác định theo nguyên tắc bỏ phiếu đa số</a:t>
            </a:r>
          </a:p>
          <a:p>
            <a:pPr algn="just">
              <a:lnSpc>
                <a:spcPts val="4381"/>
              </a:lnSpc>
              <a:spcBef>
                <a:spcPct val="0"/>
              </a:spcBef>
            </a:pPr>
            <a:r>
              <a:rPr lang="en-US" b="true" sz="312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Giá trị K ảnh hưởng trực tiếp đến độ chính xác của mô hình</a:t>
            </a:r>
          </a:p>
          <a:p>
            <a:pPr algn="just">
              <a:lnSpc>
                <a:spcPts val="500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92622" y="9420225"/>
            <a:ext cx="7892048" cy="40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b="true" sz="243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công thức Euclid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2133" y="9420225"/>
            <a:ext cx="7892048" cy="40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b="true" sz="243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 láng giềng gần nhất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98735" y="149995"/>
            <a:ext cx="5274197" cy="1483338"/>
            <a:chOff x="0" y="0"/>
            <a:chExt cx="817111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7111" cy="229808"/>
            </a:xfrm>
            <a:custGeom>
              <a:avLst/>
              <a:gdLst/>
              <a:ahLst/>
              <a:cxnLst/>
              <a:rect r="r" b="b" t="t" l="l"/>
              <a:pathLst>
                <a:path h="229808" w="817111">
                  <a:moveTo>
                    <a:pt x="104220" y="0"/>
                  </a:moveTo>
                  <a:lnTo>
                    <a:pt x="712891" y="0"/>
                  </a:lnTo>
                  <a:cubicBezTo>
                    <a:pt x="770450" y="0"/>
                    <a:pt x="817111" y="46661"/>
                    <a:pt x="817111" y="104220"/>
                  </a:cubicBezTo>
                  <a:lnTo>
                    <a:pt x="817111" y="125588"/>
                  </a:lnTo>
                  <a:cubicBezTo>
                    <a:pt x="817111" y="153229"/>
                    <a:pt x="806131" y="179738"/>
                    <a:pt x="786586" y="199283"/>
                  </a:cubicBezTo>
                  <a:cubicBezTo>
                    <a:pt x="767041" y="218828"/>
                    <a:pt x="740532" y="229808"/>
                    <a:pt x="712891" y="229808"/>
                  </a:cubicBezTo>
                  <a:lnTo>
                    <a:pt x="104220" y="229808"/>
                  </a:lnTo>
                  <a:cubicBezTo>
                    <a:pt x="46661" y="229808"/>
                    <a:pt x="0" y="183147"/>
                    <a:pt x="0" y="125588"/>
                  </a:cubicBezTo>
                  <a:lnTo>
                    <a:pt x="0" y="104220"/>
                  </a:lnTo>
                  <a:cubicBezTo>
                    <a:pt x="0" y="46661"/>
                    <a:pt x="46661" y="0"/>
                    <a:pt x="104220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075906" y="4905185"/>
            <a:ext cx="8590087" cy="4518168"/>
          </a:xfrm>
          <a:custGeom>
            <a:avLst/>
            <a:gdLst/>
            <a:ahLst/>
            <a:cxnLst/>
            <a:rect r="r" b="b" t="t" l="l"/>
            <a:pathLst>
              <a:path h="4518168" w="8590087">
                <a:moveTo>
                  <a:pt x="0" y="0"/>
                </a:moveTo>
                <a:lnTo>
                  <a:pt x="8590087" y="0"/>
                </a:lnTo>
                <a:lnTo>
                  <a:pt x="8590087" y="4518168"/>
                </a:lnTo>
                <a:lnTo>
                  <a:pt x="0" y="4518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32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619843" y="6016398"/>
            <a:ext cx="4647105" cy="4114800"/>
          </a:xfrm>
          <a:custGeom>
            <a:avLst/>
            <a:gdLst/>
            <a:ahLst/>
            <a:cxnLst/>
            <a:rect r="r" b="b" t="t" l="l"/>
            <a:pathLst>
              <a:path h="4114800" w="4647105">
                <a:moveTo>
                  <a:pt x="4647105" y="0"/>
                </a:moveTo>
                <a:lnTo>
                  <a:pt x="0" y="0"/>
                </a:lnTo>
                <a:lnTo>
                  <a:pt x="0" y="4114800"/>
                </a:lnTo>
                <a:lnTo>
                  <a:pt x="4647105" y="4114800"/>
                </a:lnTo>
                <a:lnTo>
                  <a:pt x="46471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98735" y="517859"/>
            <a:ext cx="5585927" cy="67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5"/>
              </a:lnSpc>
            </a:pPr>
            <a:r>
              <a:rPr lang="en-US" sz="3946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Bộ dữ liệu MNIST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8119" y="1939447"/>
            <a:ext cx="14915574" cy="345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25"/>
              </a:lnSpc>
            </a:pPr>
            <a:r>
              <a:rPr lang="en-US" b="true" sz="394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-Sử dụng bộ dữ liệu MNIST gồm 70.000 ảnh chữ số viết tay</a:t>
            </a:r>
          </a:p>
          <a:p>
            <a:pPr algn="just">
              <a:lnSpc>
                <a:spcPts val="5525"/>
              </a:lnSpc>
            </a:pPr>
            <a:r>
              <a:rPr lang="en-US" b="true" sz="394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-Mỗi ảnh có kích thước 28 × 28 pixel, ảnh xám</a:t>
            </a:r>
          </a:p>
          <a:p>
            <a:pPr algn="just">
              <a:lnSpc>
                <a:spcPts val="5525"/>
              </a:lnSpc>
            </a:pPr>
            <a:r>
              <a:rPr lang="en-US" b="true" sz="394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-Gồm các chữ số từ 0 đến 9</a:t>
            </a:r>
          </a:p>
          <a:p>
            <a:pPr algn="just">
              <a:lnSpc>
                <a:spcPts val="5525"/>
              </a:lnSpc>
            </a:pPr>
            <a:r>
              <a:rPr lang="en-US" b="true" sz="3946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-Chia dữ liệu thành tập huấn luyện và tập kiểm thử</a:t>
            </a:r>
          </a:p>
          <a:p>
            <a:pPr algn="just">
              <a:lnSpc>
                <a:spcPts val="552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375459" y="9366203"/>
            <a:ext cx="3990981" cy="43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ảnh bộ dữ liệu MNIST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4970" y="149995"/>
            <a:ext cx="7762480" cy="1483338"/>
            <a:chOff x="0" y="0"/>
            <a:chExt cx="1202611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611" cy="229808"/>
            </a:xfrm>
            <a:custGeom>
              <a:avLst/>
              <a:gdLst/>
              <a:ahLst/>
              <a:cxnLst/>
              <a:rect r="r" b="b" t="t" l="l"/>
              <a:pathLst>
                <a:path h="229808" w="1202611">
                  <a:moveTo>
                    <a:pt x="70812" y="0"/>
                  </a:moveTo>
                  <a:lnTo>
                    <a:pt x="1131799" y="0"/>
                  </a:lnTo>
                  <a:cubicBezTo>
                    <a:pt x="1150580" y="0"/>
                    <a:pt x="1168591" y="7461"/>
                    <a:pt x="1181871" y="20740"/>
                  </a:cubicBezTo>
                  <a:cubicBezTo>
                    <a:pt x="1195151" y="34020"/>
                    <a:pt x="1202611" y="52031"/>
                    <a:pt x="1202611" y="70812"/>
                  </a:cubicBezTo>
                  <a:lnTo>
                    <a:pt x="1202611" y="158996"/>
                  </a:lnTo>
                  <a:cubicBezTo>
                    <a:pt x="1202611" y="177776"/>
                    <a:pt x="1195151" y="195788"/>
                    <a:pt x="1181871" y="209068"/>
                  </a:cubicBezTo>
                  <a:cubicBezTo>
                    <a:pt x="1168591" y="222347"/>
                    <a:pt x="1150580" y="229808"/>
                    <a:pt x="1131799" y="229808"/>
                  </a:cubicBezTo>
                  <a:lnTo>
                    <a:pt x="70812" y="229808"/>
                  </a:lnTo>
                  <a:cubicBezTo>
                    <a:pt x="31704" y="229808"/>
                    <a:pt x="0" y="198104"/>
                    <a:pt x="0" y="158996"/>
                  </a:cubicBezTo>
                  <a:lnTo>
                    <a:pt x="0" y="70812"/>
                  </a:lnTo>
                  <a:cubicBezTo>
                    <a:pt x="0" y="52031"/>
                    <a:pt x="7461" y="34020"/>
                    <a:pt x="20740" y="20740"/>
                  </a:cubicBezTo>
                  <a:cubicBezTo>
                    <a:pt x="34020" y="7461"/>
                    <a:pt x="52031" y="0"/>
                    <a:pt x="70812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293503" y="6320458"/>
            <a:ext cx="3534648" cy="4159032"/>
          </a:xfrm>
          <a:custGeom>
            <a:avLst/>
            <a:gdLst/>
            <a:ahLst/>
            <a:cxnLst/>
            <a:rect r="r" b="b" t="t" l="l"/>
            <a:pathLst>
              <a:path h="4159032" w="3534648">
                <a:moveTo>
                  <a:pt x="3534648" y="0"/>
                </a:moveTo>
                <a:lnTo>
                  <a:pt x="0" y="0"/>
                </a:lnTo>
                <a:lnTo>
                  <a:pt x="0" y="4159032"/>
                </a:lnTo>
                <a:lnTo>
                  <a:pt x="3534648" y="4159032"/>
                </a:lnTo>
                <a:lnTo>
                  <a:pt x="353464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4189" y="4899215"/>
            <a:ext cx="11930565" cy="5200318"/>
          </a:xfrm>
          <a:custGeom>
            <a:avLst/>
            <a:gdLst/>
            <a:ahLst/>
            <a:cxnLst/>
            <a:rect r="r" b="b" t="t" l="l"/>
            <a:pathLst>
              <a:path h="5200318" w="11930565">
                <a:moveTo>
                  <a:pt x="0" y="0"/>
                </a:moveTo>
                <a:lnTo>
                  <a:pt x="11930565" y="0"/>
                </a:lnTo>
                <a:lnTo>
                  <a:pt x="11930565" y="5200318"/>
                </a:lnTo>
                <a:lnTo>
                  <a:pt x="0" y="5200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83" r="0" b="-272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84754" y="6457522"/>
            <a:ext cx="3534648" cy="4159032"/>
          </a:xfrm>
          <a:custGeom>
            <a:avLst/>
            <a:gdLst/>
            <a:ahLst/>
            <a:cxnLst/>
            <a:rect r="r" b="b" t="t" l="l"/>
            <a:pathLst>
              <a:path h="4159032" w="3534648">
                <a:moveTo>
                  <a:pt x="0" y="0"/>
                </a:moveTo>
                <a:lnTo>
                  <a:pt x="3534648" y="0"/>
                </a:lnTo>
                <a:lnTo>
                  <a:pt x="3534648" y="4159032"/>
                </a:lnTo>
                <a:lnTo>
                  <a:pt x="0" y="415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31126" y="513840"/>
            <a:ext cx="1295056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QUY TRÌNH THỰC HIỆN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8096" y="1949350"/>
            <a:ext cx="13825538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Thu thập và tiền xử lý ảnh chữ số</a:t>
            </a:r>
          </a:p>
          <a:p>
            <a:pPr algn="just" marL="863599" indent="-431800" lvl="1">
              <a:lnSpc>
                <a:spcPts val="559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Chuẩn hóa dữ liệu và chuyển ảnh sang dạng vector</a:t>
            </a:r>
          </a:p>
          <a:p>
            <a:pPr algn="just" marL="863599" indent="-431800" lvl="1">
              <a:lnSpc>
                <a:spcPts val="559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Huấn luyện mô hình KNN</a:t>
            </a:r>
          </a:p>
          <a:p>
            <a:pPr algn="just" marL="863599" indent="-431800" lvl="1">
              <a:lnSpc>
                <a:spcPts val="5599"/>
              </a:lnSpc>
              <a:buAutoNum type="arabicPeriod" startAt="1"/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Dự đoán chữ số và đánh giá kết quả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4970" y="149995"/>
            <a:ext cx="7762480" cy="1483338"/>
            <a:chOff x="0" y="0"/>
            <a:chExt cx="1202611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611" cy="229808"/>
            </a:xfrm>
            <a:custGeom>
              <a:avLst/>
              <a:gdLst/>
              <a:ahLst/>
              <a:cxnLst/>
              <a:rect r="r" b="b" t="t" l="l"/>
              <a:pathLst>
                <a:path h="229808" w="1202611">
                  <a:moveTo>
                    <a:pt x="70812" y="0"/>
                  </a:moveTo>
                  <a:lnTo>
                    <a:pt x="1131799" y="0"/>
                  </a:lnTo>
                  <a:cubicBezTo>
                    <a:pt x="1150580" y="0"/>
                    <a:pt x="1168591" y="7461"/>
                    <a:pt x="1181871" y="20740"/>
                  </a:cubicBezTo>
                  <a:cubicBezTo>
                    <a:pt x="1195151" y="34020"/>
                    <a:pt x="1202611" y="52031"/>
                    <a:pt x="1202611" y="70812"/>
                  </a:cubicBezTo>
                  <a:lnTo>
                    <a:pt x="1202611" y="158996"/>
                  </a:lnTo>
                  <a:cubicBezTo>
                    <a:pt x="1202611" y="177776"/>
                    <a:pt x="1195151" y="195788"/>
                    <a:pt x="1181871" y="209068"/>
                  </a:cubicBezTo>
                  <a:cubicBezTo>
                    <a:pt x="1168591" y="222347"/>
                    <a:pt x="1150580" y="229808"/>
                    <a:pt x="1131799" y="229808"/>
                  </a:cubicBezTo>
                  <a:lnTo>
                    <a:pt x="70812" y="229808"/>
                  </a:lnTo>
                  <a:cubicBezTo>
                    <a:pt x="31704" y="229808"/>
                    <a:pt x="0" y="198104"/>
                    <a:pt x="0" y="158996"/>
                  </a:cubicBezTo>
                  <a:lnTo>
                    <a:pt x="0" y="70812"/>
                  </a:lnTo>
                  <a:cubicBezTo>
                    <a:pt x="0" y="52031"/>
                    <a:pt x="7461" y="34020"/>
                    <a:pt x="20740" y="20740"/>
                  </a:cubicBezTo>
                  <a:cubicBezTo>
                    <a:pt x="34020" y="7461"/>
                    <a:pt x="52031" y="0"/>
                    <a:pt x="70812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5143500"/>
            <a:ext cx="7378249" cy="4771940"/>
          </a:xfrm>
          <a:custGeom>
            <a:avLst/>
            <a:gdLst/>
            <a:ahLst/>
            <a:cxnLst/>
            <a:rect r="r" b="b" t="t" l="l"/>
            <a:pathLst>
              <a:path h="4771940" w="7378249">
                <a:moveTo>
                  <a:pt x="0" y="0"/>
                </a:moveTo>
                <a:lnTo>
                  <a:pt x="7378249" y="0"/>
                </a:lnTo>
                <a:lnTo>
                  <a:pt x="7378249" y="4771940"/>
                </a:lnTo>
                <a:lnTo>
                  <a:pt x="0" y="4771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4" t="-6369" r="-318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31089" y="5143500"/>
            <a:ext cx="7371947" cy="4771940"/>
          </a:xfrm>
          <a:custGeom>
            <a:avLst/>
            <a:gdLst/>
            <a:ahLst/>
            <a:cxnLst/>
            <a:rect r="r" b="b" t="t" l="l"/>
            <a:pathLst>
              <a:path h="4771940" w="7371947">
                <a:moveTo>
                  <a:pt x="0" y="0"/>
                </a:moveTo>
                <a:lnTo>
                  <a:pt x="7371948" y="0"/>
                </a:lnTo>
                <a:lnTo>
                  <a:pt x="7371948" y="4771940"/>
                </a:lnTo>
                <a:lnTo>
                  <a:pt x="0" y="4771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3" t="-14816" r="0" b="-72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54244" y="-233610"/>
            <a:ext cx="3897586" cy="3390900"/>
          </a:xfrm>
          <a:custGeom>
            <a:avLst/>
            <a:gdLst/>
            <a:ahLst/>
            <a:cxnLst/>
            <a:rect r="r" b="b" t="t" l="l"/>
            <a:pathLst>
              <a:path h="3390900" w="3897586">
                <a:moveTo>
                  <a:pt x="0" y="0"/>
                </a:moveTo>
                <a:lnTo>
                  <a:pt x="3897586" y="0"/>
                </a:lnTo>
                <a:lnTo>
                  <a:pt x="3897586" y="3390900"/>
                </a:lnTo>
                <a:lnTo>
                  <a:pt x="0" y="339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28061" y="513840"/>
            <a:ext cx="675629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QUẢ THỰC NGHIỆM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3640" y="1838960"/>
            <a:ext cx="14315684" cy="330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-Đ</a:t>
            </a: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ộ chính xác trung bình đạt khoảng 98,89%</a:t>
            </a:r>
          </a:p>
          <a:p>
            <a:pPr algn="just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-Mô hình nhận diện tốt các chữ số rõ nét</a:t>
            </a:r>
          </a:p>
          <a:p>
            <a:pPr algn="just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-Một số trường hợp nhầm lẫn giữa các chữ số có hình dạng tương tự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628061" y="4662170"/>
            <a:ext cx="67562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MỘT SỐ ẢNH KẾT QUẢ DỰ ĐOÁN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4970" y="149995"/>
            <a:ext cx="7762480" cy="1483338"/>
            <a:chOff x="0" y="0"/>
            <a:chExt cx="1202611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611" cy="229808"/>
            </a:xfrm>
            <a:custGeom>
              <a:avLst/>
              <a:gdLst/>
              <a:ahLst/>
              <a:cxnLst/>
              <a:rect r="r" b="b" t="t" l="l"/>
              <a:pathLst>
                <a:path h="229808" w="1202611">
                  <a:moveTo>
                    <a:pt x="70812" y="0"/>
                  </a:moveTo>
                  <a:lnTo>
                    <a:pt x="1131799" y="0"/>
                  </a:lnTo>
                  <a:cubicBezTo>
                    <a:pt x="1150580" y="0"/>
                    <a:pt x="1168591" y="7461"/>
                    <a:pt x="1181871" y="20740"/>
                  </a:cubicBezTo>
                  <a:cubicBezTo>
                    <a:pt x="1195151" y="34020"/>
                    <a:pt x="1202611" y="52031"/>
                    <a:pt x="1202611" y="70812"/>
                  </a:cubicBezTo>
                  <a:lnTo>
                    <a:pt x="1202611" y="158996"/>
                  </a:lnTo>
                  <a:cubicBezTo>
                    <a:pt x="1202611" y="177776"/>
                    <a:pt x="1195151" y="195788"/>
                    <a:pt x="1181871" y="209068"/>
                  </a:cubicBezTo>
                  <a:cubicBezTo>
                    <a:pt x="1168591" y="222347"/>
                    <a:pt x="1150580" y="229808"/>
                    <a:pt x="1131799" y="229808"/>
                  </a:cubicBezTo>
                  <a:lnTo>
                    <a:pt x="70812" y="229808"/>
                  </a:lnTo>
                  <a:cubicBezTo>
                    <a:pt x="31704" y="229808"/>
                    <a:pt x="0" y="198104"/>
                    <a:pt x="0" y="158996"/>
                  </a:cubicBezTo>
                  <a:lnTo>
                    <a:pt x="0" y="70812"/>
                  </a:lnTo>
                  <a:cubicBezTo>
                    <a:pt x="0" y="52031"/>
                    <a:pt x="7461" y="34020"/>
                    <a:pt x="20740" y="20740"/>
                  </a:cubicBezTo>
                  <a:cubicBezTo>
                    <a:pt x="34020" y="7461"/>
                    <a:pt x="52031" y="0"/>
                    <a:pt x="70812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0822" y="4149899"/>
            <a:ext cx="10774478" cy="5349919"/>
          </a:xfrm>
          <a:custGeom>
            <a:avLst/>
            <a:gdLst/>
            <a:ahLst/>
            <a:cxnLst/>
            <a:rect r="r" b="b" t="t" l="l"/>
            <a:pathLst>
              <a:path h="5349919" w="10774478">
                <a:moveTo>
                  <a:pt x="0" y="0"/>
                </a:moveTo>
                <a:lnTo>
                  <a:pt x="10774478" y="0"/>
                </a:lnTo>
                <a:lnTo>
                  <a:pt x="10774478" y="5349918"/>
                </a:lnTo>
                <a:lnTo>
                  <a:pt x="0" y="5349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8" r="0" b="-362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76020" y="-400796"/>
            <a:ext cx="4647105" cy="4114800"/>
          </a:xfrm>
          <a:custGeom>
            <a:avLst/>
            <a:gdLst/>
            <a:ahLst/>
            <a:cxnLst/>
            <a:rect r="r" b="b" t="t" l="l"/>
            <a:pathLst>
              <a:path h="4114800" w="4647105">
                <a:moveTo>
                  <a:pt x="0" y="0"/>
                </a:moveTo>
                <a:lnTo>
                  <a:pt x="4647105" y="0"/>
                </a:lnTo>
                <a:lnTo>
                  <a:pt x="4647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247567" y="6172200"/>
            <a:ext cx="6304011" cy="4114800"/>
          </a:xfrm>
          <a:custGeom>
            <a:avLst/>
            <a:gdLst/>
            <a:ahLst/>
            <a:cxnLst/>
            <a:rect r="r" b="b" t="t" l="l"/>
            <a:pathLst>
              <a:path h="4114800" w="6304011">
                <a:moveTo>
                  <a:pt x="6304011" y="0"/>
                </a:moveTo>
                <a:lnTo>
                  <a:pt x="0" y="0"/>
                </a:lnTo>
                <a:lnTo>
                  <a:pt x="0" y="4114800"/>
                </a:lnTo>
                <a:lnTo>
                  <a:pt x="6304011" y="4114800"/>
                </a:lnTo>
                <a:lnTo>
                  <a:pt x="63040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28061" y="513840"/>
            <a:ext cx="675629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ỨNG DỤNG MINH HỌA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822" y="1757068"/>
            <a:ext cx="11747421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-Xây</a:t>
            </a: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dựng ứng dụng nhận diện chữ số viết tay</a:t>
            </a:r>
          </a:p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-Người dùng nhập ảnh chữ số</a:t>
            </a:r>
          </a:p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-Hệ thống xử lý và dự đoán kết quả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709680" y="9652217"/>
            <a:ext cx="334952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ảnh giao diện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19925" y="149995"/>
            <a:ext cx="8780449" cy="1483338"/>
            <a:chOff x="0" y="0"/>
            <a:chExt cx="1360321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0321" cy="229808"/>
            </a:xfrm>
            <a:custGeom>
              <a:avLst/>
              <a:gdLst/>
              <a:ahLst/>
              <a:cxnLst/>
              <a:rect r="r" b="b" t="t" l="l"/>
              <a:pathLst>
                <a:path h="229808" w="1360321">
                  <a:moveTo>
                    <a:pt x="62602" y="0"/>
                  </a:moveTo>
                  <a:lnTo>
                    <a:pt x="1297719" y="0"/>
                  </a:lnTo>
                  <a:cubicBezTo>
                    <a:pt x="1314322" y="0"/>
                    <a:pt x="1330245" y="6596"/>
                    <a:pt x="1341986" y="18336"/>
                  </a:cubicBezTo>
                  <a:cubicBezTo>
                    <a:pt x="1353726" y="30076"/>
                    <a:pt x="1360321" y="45999"/>
                    <a:pt x="1360321" y="62602"/>
                  </a:cubicBezTo>
                  <a:lnTo>
                    <a:pt x="1360321" y="167206"/>
                  </a:lnTo>
                  <a:cubicBezTo>
                    <a:pt x="1360321" y="183809"/>
                    <a:pt x="1353726" y="199732"/>
                    <a:pt x="1341986" y="211472"/>
                  </a:cubicBezTo>
                  <a:cubicBezTo>
                    <a:pt x="1330245" y="223212"/>
                    <a:pt x="1314322" y="229808"/>
                    <a:pt x="1297719" y="229808"/>
                  </a:cubicBezTo>
                  <a:lnTo>
                    <a:pt x="62602" y="229808"/>
                  </a:lnTo>
                  <a:cubicBezTo>
                    <a:pt x="45999" y="229808"/>
                    <a:pt x="30076" y="223212"/>
                    <a:pt x="18336" y="211472"/>
                  </a:cubicBezTo>
                  <a:cubicBezTo>
                    <a:pt x="6596" y="199732"/>
                    <a:pt x="0" y="183809"/>
                    <a:pt x="0" y="167206"/>
                  </a:cubicBezTo>
                  <a:lnTo>
                    <a:pt x="0" y="62602"/>
                  </a:lnTo>
                  <a:cubicBezTo>
                    <a:pt x="0" y="45999"/>
                    <a:pt x="6596" y="30076"/>
                    <a:pt x="18336" y="18336"/>
                  </a:cubicBezTo>
                  <a:cubicBezTo>
                    <a:pt x="30076" y="6596"/>
                    <a:pt x="45999" y="0"/>
                    <a:pt x="62602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4376" y="6920416"/>
            <a:ext cx="5130673" cy="4114800"/>
          </a:xfrm>
          <a:custGeom>
            <a:avLst/>
            <a:gdLst/>
            <a:ahLst/>
            <a:cxnLst/>
            <a:rect r="r" b="b" t="t" l="l"/>
            <a:pathLst>
              <a:path h="4114800" w="5130673">
                <a:moveTo>
                  <a:pt x="0" y="0"/>
                </a:moveTo>
                <a:lnTo>
                  <a:pt x="5130673" y="0"/>
                </a:lnTo>
                <a:lnTo>
                  <a:pt x="51306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79205" y="5985225"/>
            <a:ext cx="2745940" cy="4114800"/>
          </a:xfrm>
          <a:custGeom>
            <a:avLst/>
            <a:gdLst/>
            <a:ahLst/>
            <a:cxnLst/>
            <a:rect r="r" b="b" t="t" l="l"/>
            <a:pathLst>
              <a:path h="4114800" w="2745940">
                <a:moveTo>
                  <a:pt x="0" y="0"/>
                </a:moveTo>
                <a:lnTo>
                  <a:pt x="2745941" y="0"/>
                </a:lnTo>
                <a:lnTo>
                  <a:pt x="27459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7076" y="1789199"/>
            <a:ext cx="17513847" cy="7624966"/>
            <a:chOff x="0" y="0"/>
            <a:chExt cx="1556191" cy="6775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191" cy="677516"/>
            </a:xfrm>
            <a:custGeom>
              <a:avLst/>
              <a:gdLst/>
              <a:ahLst/>
              <a:cxnLst/>
              <a:rect r="r" b="b" t="t" l="l"/>
              <a:pathLst>
                <a:path h="677516" w="1556191">
                  <a:moveTo>
                    <a:pt x="31385" y="0"/>
                  </a:moveTo>
                  <a:lnTo>
                    <a:pt x="1524806" y="0"/>
                  </a:lnTo>
                  <a:cubicBezTo>
                    <a:pt x="1542140" y="0"/>
                    <a:pt x="1556191" y="14052"/>
                    <a:pt x="1556191" y="31385"/>
                  </a:cubicBezTo>
                  <a:lnTo>
                    <a:pt x="1556191" y="646130"/>
                  </a:lnTo>
                  <a:cubicBezTo>
                    <a:pt x="1556191" y="663464"/>
                    <a:pt x="1542140" y="677516"/>
                    <a:pt x="1524806" y="677516"/>
                  </a:cubicBezTo>
                  <a:lnTo>
                    <a:pt x="31385" y="677516"/>
                  </a:lnTo>
                  <a:cubicBezTo>
                    <a:pt x="14052" y="677516"/>
                    <a:pt x="0" y="663464"/>
                    <a:pt x="0" y="646130"/>
                  </a:cubicBezTo>
                  <a:lnTo>
                    <a:pt x="0" y="31385"/>
                  </a:lnTo>
                  <a:cubicBezTo>
                    <a:pt x="0" y="14052"/>
                    <a:pt x="14052" y="0"/>
                    <a:pt x="31385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841793" y="513840"/>
            <a:ext cx="86044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ĐÁNH GIÁ – ƯU &amp; NHƯỢC ĐIỂM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2947" y="2107357"/>
            <a:ext cx="17134404" cy="692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</a:pPr>
            <a:r>
              <a:rPr lang="en-US" sz="3713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Ưu điểm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sz="324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-</a:t>
            </a: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Thuật toán đơn g</a:t>
            </a: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iản, dễ hiểu, phù hợp cho người mới học máy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-Không cần giai đoạn huấn luyện phức tạp, dễ triển khai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-Hiệu quả cao đối với bộ dữ liệu MNIST và các bài toán phân loại cơ bản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-Dễ mở rộng và điều chỉnh thông qua việc thay đổi giá trị K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-Kết quả phân loại trực quan, dễ phân tích và đánh giá</a:t>
            </a:r>
          </a:p>
          <a:p>
            <a:pPr algn="ctr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Nhược điểm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</a:t>
            </a: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Thời gian dự đoán chậm khi dữ liệu lớn, do phải tính khoảng cách với toàn bộ mẫu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-Tốn bộ nhớ vì cần lưu toàn bộ dữ liệu huấn luyện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-Nhạy cảm với nhiễu dữ liệu và các điểm ngoại lai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b="true" sz="324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-Hiệu quả phụ thuộc nhiều vào việc lựa chọn giá trị K và độ đo khoảng cách</a:t>
            </a:r>
          </a:p>
          <a:p>
            <a:pPr algn="ctr">
              <a:lnSpc>
                <a:spcPts val="45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19925" y="149995"/>
            <a:ext cx="8780449" cy="1483338"/>
            <a:chOff x="0" y="0"/>
            <a:chExt cx="1360321" cy="229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0321" cy="229808"/>
            </a:xfrm>
            <a:custGeom>
              <a:avLst/>
              <a:gdLst/>
              <a:ahLst/>
              <a:cxnLst/>
              <a:rect r="r" b="b" t="t" l="l"/>
              <a:pathLst>
                <a:path h="229808" w="1360321">
                  <a:moveTo>
                    <a:pt x="62602" y="0"/>
                  </a:moveTo>
                  <a:lnTo>
                    <a:pt x="1297719" y="0"/>
                  </a:lnTo>
                  <a:cubicBezTo>
                    <a:pt x="1314322" y="0"/>
                    <a:pt x="1330245" y="6596"/>
                    <a:pt x="1341986" y="18336"/>
                  </a:cubicBezTo>
                  <a:cubicBezTo>
                    <a:pt x="1353726" y="30076"/>
                    <a:pt x="1360321" y="45999"/>
                    <a:pt x="1360321" y="62602"/>
                  </a:cubicBezTo>
                  <a:lnTo>
                    <a:pt x="1360321" y="167206"/>
                  </a:lnTo>
                  <a:cubicBezTo>
                    <a:pt x="1360321" y="183809"/>
                    <a:pt x="1353726" y="199732"/>
                    <a:pt x="1341986" y="211472"/>
                  </a:cubicBezTo>
                  <a:cubicBezTo>
                    <a:pt x="1330245" y="223212"/>
                    <a:pt x="1314322" y="229808"/>
                    <a:pt x="1297719" y="229808"/>
                  </a:cubicBezTo>
                  <a:lnTo>
                    <a:pt x="62602" y="229808"/>
                  </a:lnTo>
                  <a:cubicBezTo>
                    <a:pt x="45999" y="229808"/>
                    <a:pt x="30076" y="223212"/>
                    <a:pt x="18336" y="211472"/>
                  </a:cubicBezTo>
                  <a:cubicBezTo>
                    <a:pt x="6596" y="199732"/>
                    <a:pt x="0" y="183809"/>
                    <a:pt x="0" y="167206"/>
                  </a:cubicBezTo>
                  <a:lnTo>
                    <a:pt x="0" y="62602"/>
                  </a:lnTo>
                  <a:cubicBezTo>
                    <a:pt x="0" y="45999"/>
                    <a:pt x="6596" y="30076"/>
                    <a:pt x="18336" y="18336"/>
                  </a:cubicBezTo>
                  <a:cubicBezTo>
                    <a:pt x="30076" y="6596"/>
                    <a:pt x="45999" y="0"/>
                    <a:pt x="62602" y="0"/>
                  </a:cubicBezTo>
                  <a:close/>
                </a:path>
              </a:pathLst>
            </a:custGeom>
            <a:solidFill>
              <a:srgbClr val="000000">
                <a:alpha val="26667"/>
              </a:srgbClr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410150" y="4538467"/>
            <a:ext cx="8070228" cy="4719833"/>
          </a:xfrm>
          <a:custGeom>
            <a:avLst/>
            <a:gdLst/>
            <a:ahLst/>
            <a:cxnLst/>
            <a:rect r="r" b="b" t="t" l="l"/>
            <a:pathLst>
              <a:path h="4719833" w="8070228">
                <a:moveTo>
                  <a:pt x="0" y="0"/>
                </a:moveTo>
                <a:lnTo>
                  <a:pt x="8070228" y="0"/>
                </a:lnTo>
                <a:lnTo>
                  <a:pt x="8070228" y="4719833"/>
                </a:lnTo>
                <a:lnTo>
                  <a:pt x="0" y="471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4" t="-3422" r="-21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9981" y="6207889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3" y="0"/>
                </a:lnTo>
                <a:lnTo>
                  <a:pt x="43107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07943" y="513840"/>
            <a:ext cx="86044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LUẬN &amp; HƯỚNG PHÁT TRIỂN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3554" y="2046092"/>
            <a:ext cx="11495484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</a:t>
            </a: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KNN hoạt động hiệu quả trong nhận diện chữ số viết tay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-Đề tài giúp hiểu rõ quy trình học máy cơ bản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Hướng phát triển: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-Kết hợp PCA để tăng tốc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-Áp dụng CNN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-Mở rộng nhận diện chữ cái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17766" y="5575439"/>
            <a:ext cx="5880263" cy="4711561"/>
          </a:xfrm>
          <a:custGeom>
            <a:avLst/>
            <a:gdLst/>
            <a:ahLst/>
            <a:cxnLst/>
            <a:rect r="r" b="b" t="t" l="l"/>
            <a:pathLst>
              <a:path h="4711561" w="5880263">
                <a:moveTo>
                  <a:pt x="0" y="0"/>
                </a:moveTo>
                <a:lnTo>
                  <a:pt x="5880263" y="0"/>
                </a:lnTo>
                <a:lnTo>
                  <a:pt x="5880263" y="4711561"/>
                </a:lnTo>
                <a:lnTo>
                  <a:pt x="0" y="471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25" r="0" b="-234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417" y="607429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62647" y="-667994"/>
            <a:ext cx="4105941" cy="4114800"/>
          </a:xfrm>
          <a:custGeom>
            <a:avLst/>
            <a:gdLst/>
            <a:ahLst/>
            <a:cxnLst/>
            <a:rect r="r" b="b" t="t" l="l"/>
            <a:pathLst>
              <a:path h="4114800" w="4105941">
                <a:moveTo>
                  <a:pt x="0" y="0"/>
                </a:moveTo>
                <a:lnTo>
                  <a:pt x="4105941" y="0"/>
                </a:lnTo>
                <a:lnTo>
                  <a:pt x="41059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03452" y="-534395"/>
            <a:ext cx="5130673" cy="4114800"/>
          </a:xfrm>
          <a:custGeom>
            <a:avLst/>
            <a:gdLst/>
            <a:ahLst/>
            <a:cxnLst/>
            <a:rect r="r" b="b" t="t" l="l"/>
            <a:pathLst>
              <a:path h="4114800" w="5130673">
                <a:moveTo>
                  <a:pt x="5130673" y="0"/>
                </a:moveTo>
                <a:lnTo>
                  <a:pt x="0" y="0"/>
                </a:lnTo>
                <a:lnTo>
                  <a:pt x="0" y="4114800"/>
                </a:lnTo>
                <a:lnTo>
                  <a:pt x="5130673" y="4114800"/>
                </a:lnTo>
                <a:lnTo>
                  <a:pt x="51306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6097" y="3994289"/>
            <a:ext cx="1268968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Cảm</a:t>
            </a:r>
            <a:r>
              <a:rPr lang="en-US" b="true" sz="50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ơn thầy cô và các bạn đã lắng nghe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DAG9zOjU9WA</dc:identifier>
  <dcterms:modified xsi:type="dcterms:W3CDTF">2011-08-01T06:04:30Z</dcterms:modified>
  <cp:revision>1</cp:revision>
  <dc:title>TRƯỜNG KỸ THUẬT VÀ CÔNG NGHỆ KHOA CÔNG NGHỆ THÔNG TIN</dc:title>
</cp:coreProperties>
</file>